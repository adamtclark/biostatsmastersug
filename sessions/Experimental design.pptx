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media/image5.wmf" ContentType="image/x-wmf"/>
  <Override PartName="/ppt/media/image6.wmf" ContentType="image/x-wmf"/>
  <Override PartName="/ppt/media/image7.wmf" ContentType="image/x-wmf"/>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elfoli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de-DE" sz="6000" b="0" u="none" strike="noStrike">
                <a:solidFill>
                  <a:schemeClr val="dk1"/>
                </a:solidFill>
                <a:effectLst/>
                <a:uFillTx/>
                <a:latin typeface="Calibri Light"/>
              </a:rPr>
              <a:t>Mastertitelformat bearbeiten</a:t>
            </a:r>
            <a:endParaRPr lang="de-DE"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656E7E10-5EAF-4078-9BF4-1F66F9127D9D}"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Click to edit the outline text format</a:t>
            </a:r>
            <a:endParaRPr lang="de-DE" sz="28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Second Outline Level</a:t>
            </a:r>
            <a:endParaRPr lang="de-DE" sz="20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Third Outline Level</a:t>
            </a:r>
            <a:endParaRPr lang="de-DE" sz="18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Fourth Outline Level</a:t>
            </a:r>
            <a:endParaRPr lang="de-DE" sz="18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Fifth Outline Level</a:t>
            </a:r>
            <a:endParaRPr lang="de-DE" sz="20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Sixth Outline Level</a:t>
            </a:r>
            <a:endParaRPr lang="de-DE" sz="20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Seventh Outline Level</a:t>
            </a:r>
            <a:endParaRPr lang="de-DE"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el und vertikaler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Calibri Light"/>
              </a:rPr>
              <a:t>Mastertitelformat bearbeiten</a:t>
            </a:r>
            <a:endParaRPr lang="de-DE" sz="4400" b="0" u="none" strike="noStrik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E7B3D2B5-066A-4B64-AD8F-F4F54E801DC9}"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kaler Titel u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de-DE" sz="4400" b="0" u="none" strike="noStrike">
                <a:solidFill>
                  <a:schemeClr val="dk1"/>
                </a:solidFill>
                <a:effectLst/>
                <a:uFillTx/>
                <a:latin typeface="Calibri Light"/>
              </a:rPr>
              <a:t>Mastertitelformat bearbeiten</a:t>
            </a:r>
            <a:endParaRPr lang="de-DE" sz="4400" b="0" u="none" strike="noStrik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EC41D979-D015-447B-A84E-79AFFCF95388}"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Calibri Light"/>
              </a:rPr>
              <a:t>Mastertitelformat bearbeiten</a:t>
            </a:r>
            <a:endParaRPr lang="de-DE" sz="4400" b="0" u="none" strike="noStrik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E38EA62D-0154-465D-A269-282DF004AB1E}"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bschnitts-&#10;überschrift">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de-DE" sz="6000" b="0" u="none" strike="noStrike">
                <a:solidFill>
                  <a:schemeClr val="dk1"/>
                </a:solidFill>
                <a:effectLst/>
                <a:uFillTx/>
                <a:latin typeface="Calibri Light"/>
              </a:rPr>
              <a:t>Mastertitelformat bearbeiten</a:t>
            </a:r>
            <a:endParaRPr lang="de-DE" sz="6000" b="0" u="none" strike="noStrik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de-DE" sz="2400" b="0" u="none" strike="noStrike">
                <a:solidFill>
                  <a:schemeClr val="dk1">
                    <a:tint val="75000"/>
                  </a:schemeClr>
                </a:solidFill>
                <a:effectLst/>
                <a:uFillTx/>
                <a:latin typeface="Calibri"/>
              </a:rPr>
              <a:t>Mastertextformat bearbeiten</a:t>
            </a:r>
            <a:endParaRPr lang="de-DE" sz="2400" b="0" u="none" strike="noStrik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227ECB72-CDC8-4575-B1F5-A367DCC0BD8B}"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Zwei Inhalte">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Calibri Light"/>
              </a:rPr>
              <a:t>Mastertitelformat bearbeiten</a:t>
            </a:r>
            <a:endParaRPr lang="de-DE" sz="4400" b="0" u="none" strike="noStrik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FE91FA9F-50DB-49CA-9320-52FD470F6772}"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ergleich">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Calibri Light"/>
              </a:rPr>
              <a:t>Mastertitelformat bearbeiten</a:t>
            </a:r>
            <a:endParaRPr lang="de-DE" sz="4400" b="0" u="none" strike="noStrik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de-DE" sz="2400" b="1" u="none" strike="noStrike">
                <a:solidFill>
                  <a:schemeClr val="dk1"/>
                </a:solidFill>
                <a:effectLst/>
                <a:uFillTx/>
                <a:latin typeface="Calibri"/>
              </a:rPr>
              <a:t>Mastertextformat bearbeiten</a:t>
            </a:r>
            <a:endParaRPr lang="de-DE"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de-DE" sz="2400" b="1" u="none" strike="noStrike">
                <a:solidFill>
                  <a:schemeClr val="dk1"/>
                </a:solidFill>
                <a:effectLst/>
                <a:uFillTx/>
                <a:latin typeface="Calibri"/>
              </a:rPr>
              <a:t>Mastertextformat bearbeiten</a:t>
            </a:r>
            <a:endParaRPr lang="de-DE"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Calibri"/>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Calibri"/>
              </a:rPr>
              <a:t>Fünfte Ebene</a:t>
            </a:r>
            <a:endParaRPr lang="de-DE" sz="1800" b="0" u="none" strike="noStrik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FFFCDCE2-77B7-44F7-AD79-87BD8EBCDAC4}"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Calibri Light"/>
              </a:rPr>
              <a:t>Mastertitelformat bearbeiten</a:t>
            </a:r>
            <a:endParaRPr lang="de-DE" sz="4400" b="0" u="none" strike="noStrik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941E82B5-A2BF-4081-90D8-12CF96F18AAD}"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995D8F74-042D-4B03-861C-103C00EF3080}"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 mit Überschrift">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de-DE" sz="3200" b="0" u="none" strike="noStrike">
                <a:solidFill>
                  <a:schemeClr val="dk1"/>
                </a:solidFill>
                <a:effectLst/>
                <a:uFillTx/>
                <a:latin typeface="Calibri Light"/>
              </a:rPr>
              <a:t>Mastertitelformat bearbeiten</a:t>
            </a:r>
            <a:endParaRPr lang="de-DE" sz="3200" b="0" u="none" strike="noStrik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3200" b="0" u="none" strike="noStrike">
                <a:solidFill>
                  <a:schemeClr val="dk1"/>
                </a:solidFill>
                <a:effectLst/>
                <a:uFillTx/>
                <a:latin typeface="Calibri"/>
              </a:rPr>
              <a:t>Mastertextformat bearbeiten</a:t>
            </a:r>
            <a:endParaRPr lang="de-DE"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800" b="0" u="none" strike="noStrike">
                <a:solidFill>
                  <a:schemeClr val="dk1"/>
                </a:solidFill>
                <a:effectLst/>
                <a:uFillTx/>
                <a:latin typeface="Calibri"/>
              </a:rPr>
              <a:t>Zweite Ebene</a:t>
            </a:r>
            <a:endParaRPr lang="de-DE"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Calibri"/>
              </a:rPr>
              <a:t>Dritte Ebene</a:t>
            </a:r>
            <a:endParaRPr lang="de-DE"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Vierte Ebene</a:t>
            </a:r>
            <a:endParaRPr lang="de-DE"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Calibri"/>
              </a:rPr>
              <a:t>Fünfte Ebene</a:t>
            </a:r>
            <a:endParaRPr lang="de-DE" sz="2000" b="0" u="none" strike="noStrike">
              <a:solidFill>
                <a:schemeClr val="dk1"/>
              </a:solidFill>
              <a:effectLst/>
              <a:uFillTx/>
              <a:latin typeface="Calibri"/>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de-DE" sz="1600" b="0" u="none" strike="noStrike">
                <a:solidFill>
                  <a:schemeClr val="dk1"/>
                </a:solidFill>
                <a:effectLst/>
                <a:uFillTx/>
                <a:latin typeface="Calibri"/>
              </a:rPr>
              <a:t>Mastertextformat bearbeiten</a:t>
            </a:r>
            <a:endParaRPr lang="de-DE" sz="1600" b="0" u="none" strike="noStrike">
              <a:solidFill>
                <a:schemeClr val="dk1"/>
              </a:solidFill>
              <a:effectLst/>
              <a:uFillTx/>
              <a:latin typeface="Calibri"/>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C8DD019B-3AAB-4D31-837E-7F8C26325A74}"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ld mit Überschrift">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de-DE" sz="3200" b="0" u="none" strike="noStrike">
                <a:solidFill>
                  <a:schemeClr val="dk1"/>
                </a:solidFill>
                <a:effectLst/>
                <a:uFillTx/>
                <a:latin typeface="Calibri Light"/>
              </a:rPr>
              <a:t>Mastertitelformat bearbeiten</a:t>
            </a:r>
            <a:endParaRPr lang="de-DE"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de-DE" sz="3200" b="0" u="none" strike="noStrike">
                <a:solidFill>
                  <a:schemeClr val="dk1"/>
                </a:solidFill>
                <a:effectLst/>
                <a:uFillTx/>
                <a:latin typeface="Calibri"/>
              </a:rPr>
              <a:t>Click to edit the outline text format</a:t>
            </a:r>
            <a:endParaRPr lang="de-DE" sz="32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de-DE" sz="3200" b="0" u="none" strike="noStrike">
                <a:solidFill>
                  <a:schemeClr val="dk1"/>
                </a:solidFill>
                <a:effectLst/>
                <a:uFillTx/>
                <a:latin typeface="Calibri"/>
              </a:rPr>
              <a:t>Second Outline Level</a:t>
            </a:r>
            <a:endParaRPr lang="de-DE" sz="32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de-DE" sz="3200" b="0" u="none" strike="noStrike">
                <a:solidFill>
                  <a:schemeClr val="dk1"/>
                </a:solidFill>
                <a:effectLst/>
                <a:uFillTx/>
                <a:latin typeface="Calibri"/>
              </a:rPr>
              <a:t>Third Outline Level</a:t>
            </a:r>
            <a:endParaRPr lang="de-DE" sz="32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de-DE" sz="3200" b="0" u="none" strike="noStrike">
                <a:solidFill>
                  <a:schemeClr val="dk1"/>
                </a:solidFill>
                <a:effectLst/>
                <a:uFillTx/>
                <a:latin typeface="Calibri"/>
              </a:rPr>
              <a:t>Fourth Outline Level</a:t>
            </a:r>
            <a:endParaRPr lang="de-DE" sz="32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Fifth Outline Level</a:t>
            </a:r>
            <a:endParaRPr lang="de-DE" sz="32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Sixth Outline Level</a:t>
            </a:r>
            <a:endParaRPr lang="de-DE" sz="32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Seventh Outline Level</a:t>
            </a:r>
            <a:endParaRPr lang="de-DE" sz="3200" b="0" u="none" strike="noStrike">
              <a:solidFill>
                <a:schemeClr val="dk1"/>
              </a:solidFill>
              <a:effectLst/>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de-DE" sz="1600" b="0" u="none" strike="noStrike">
                <a:solidFill>
                  <a:schemeClr val="dk1"/>
                </a:solidFill>
                <a:effectLst/>
                <a:uFillTx/>
                <a:latin typeface="Calibri"/>
              </a:rPr>
              <a:t>Mastertextformat bearbeiten</a:t>
            </a:r>
            <a:endParaRPr lang="de-DE" sz="1600" b="0" u="none" strike="noStrik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AT" sz="1200" b="0" u="none" strike="noStrike">
                <a:solidFill>
                  <a:schemeClr val="dk1">
                    <a:tint val="75000"/>
                  </a:schemeClr>
                </a:solidFill>
                <a:effectLst/>
                <a:uFillTx/>
                <a:latin typeface="Calibri"/>
              </a:defRPr>
            </a:lvl1pPr>
          </a:lstStyle>
          <a:p>
            <a:pPr indent="0" defTabSz="914400">
              <a:lnSpc>
                <a:spcPct val="100000"/>
              </a:lnSpc>
              <a:buNone/>
            </a:pPr>
            <a:r>
              <a:rPr lang="de-AT"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GB" sz="1400" b="0" u="none" strike="noStrike">
                <a:solidFill>
                  <a:srgbClr val="000000"/>
                </a:solidFill>
                <a:effectLst/>
                <a:uFillTx/>
                <a:latin typeface="Times New Roman"/>
              </a:defRPr>
            </a:lvl1pPr>
          </a:lstStyle>
          <a:p>
            <a:pPr indent="0" algn="ctr">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AT" sz="1200" b="0" u="none" strike="noStrike">
                <a:solidFill>
                  <a:schemeClr val="dk1">
                    <a:tint val="75000"/>
                  </a:schemeClr>
                </a:solidFill>
                <a:effectLst/>
                <a:uFillTx/>
                <a:latin typeface="Calibri"/>
              </a:defRPr>
            </a:lvl1pPr>
          </a:lstStyle>
          <a:p>
            <a:pPr indent="0" algn="r" defTabSz="914400">
              <a:lnSpc>
                <a:spcPct val="100000"/>
              </a:lnSpc>
              <a:buNone/>
            </a:pPr>
            <a:fld id="{3BD5768B-D5EC-4A6C-8A2C-836600269D37}" type="slidenum">
              <a:rPr lang="de-AT"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hyperlink" Target="https://stats.stackexchange.com/a/739/9007" TargetMode="External"/><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5.wmf"/><Relationship Id="rId2" Type="http://schemas.openxmlformats.org/officeDocument/2006/relationships/image" Target="../media/image6.wmf"/><Relationship Id="rId3" Type="http://schemas.openxmlformats.org/officeDocument/2006/relationships/image" Target="../media/image7.wmf"/><Relationship Id="rId4"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5.wmf"/><Relationship Id="rId2" Type="http://schemas.openxmlformats.org/officeDocument/2006/relationships/image" Target="../media/image6.wmf"/><Relationship Id="rId3" Type="http://schemas.openxmlformats.org/officeDocument/2006/relationships/image" Target="../media/image7.wmf"/><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Textfeld 4"/>
          <p:cNvSpPr/>
          <p:nvPr/>
        </p:nvSpPr>
        <p:spPr>
          <a:xfrm>
            <a:off x="523800" y="2169360"/>
            <a:ext cx="1121040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Aft>
                <a:spcPts val="799"/>
              </a:spcAft>
            </a:pPr>
            <a:r>
              <a:rPr lang="en-US" sz="1800" b="0" u="none" strike="noStrike">
                <a:solidFill>
                  <a:schemeClr val="dk1"/>
                </a:solidFill>
                <a:effectLst/>
                <a:uFillTx/>
                <a:latin typeface="Nunito Sans Light"/>
                <a:ea typeface="Nunito Sans Light"/>
              </a:rPr>
              <a:t>To consult the statistician after an experiment is finished is often merely to ask him to conduct a post mortem examination. He can perhaps say what the experiment died of. -- </a:t>
            </a:r>
            <a:r>
              <a:rPr lang="en-US" sz="1800" b="0" u="sng" strike="noStrike">
                <a:solidFill>
                  <a:srgbClr val="0563c1"/>
                </a:solidFill>
                <a:effectLst/>
                <a:uFillTx/>
                <a:latin typeface="Nunito Sans Light"/>
                <a:ea typeface="Nunito Sans Light"/>
                <a:hlinkClick r:id="rId1"/>
              </a:rPr>
              <a:t>Ronald Fisher (1938)</a:t>
            </a:r>
            <a:endParaRPr lang="en-GB" sz="1800" b="0" u="none" strike="noStrike">
              <a:solidFill>
                <a:srgbClr val="000000"/>
              </a:solidFill>
              <a:effectLst/>
              <a:uFillTx/>
              <a:latin typeface="Arial"/>
            </a:endParaRPr>
          </a:p>
        </p:txBody>
      </p:sp>
      <p:pic>
        <p:nvPicPr>
          <p:cNvPr id="61" name="Grafik 6"/>
          <p:cNvPicPr/>
          <p:nvPr/>
        </p:nvPicPr>
        <p:blipFill>
          <a:blip r:embed="rId2"/>
          <a:stretch/>
        </p:blipFill>
        <p:spPr>
          <a:xfrm>
            <a:off x="6995880" y="2921760"/>
            <a:ext cx="2638440" cy="1942920"/>
          </a:xfrm>
          <a:prstGeom prst="rect">
            <a:avLst/>
          </a:prstGeom>
          <a:noFill/>
          <a:ln w="0">
            <a:noFill/>
          </a:ln>
        </p:spPr>
      </p:pic>
      <p:sp>
        <p:nvSpPr>
          <p:cNvPr id="62" name="Textfeld 8"/>
          <p:cNvSpPr/>
          <p:nvPr/>
        </p:nvSpPr>
        <p:spPr>
          <a:xfrm>
            <a:off x="6995880" y="4971240"/>
            <a:ext cx="6095520" cy="276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AT" sz="1200" b="0" u="none" strike="noStrike">
                <a:solidFill>
                  <a:schemeClr val="dk1"/>
                </a:solidFill>
                <a:effectLst/>
                <a:uFillTx/>
                <a:latin typeface="Calibri"/>
              </a:rPr>
              <a:t>https://www.ucl.ac.uk/life-sciences/ronald-aylmer-fisher-1890-1962</a:t>
            </a:r>
            <a:endParaRPr lang="en-GB" sz="1200" b="0" u="none" strike="noStrike">
              <a:solidFill>
                <a:srgbClr val="000000"/>
              </a:solidFill>
              <a:effectLst/>
              <a:uFillTx/>
              <a:latin typeface="Arial"/>
            </a:endParaRPr>
          </a:p>
        </p:txBody>
      </p:sp>
      <p:sp>
        <p:nvSpPr>
          <p:cNvPr id="63" name="Textfeld 9"/>
          <p:cNvSpPr/>
          <p:nvPr/>
        </p:nvSpPr>
        <p:spPr>
          <a:xfrm>
            <a:off x="2790360" y="703080"/>
            <a:ext cx="6610680" cy="4611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AT" sz="2400" b="0" u="none" strike="noStrike">
                <a:solidFill>
                  <a:schemeClr val="dk1"/>
                </a:solidFill>
                <a:effectLst/>
                <a:uFillTx/>
                <a:latin typeface="Nunito Sans Light"/>
              </a:rPr>
              <a:t>Causes of </a:t>
            </a:r>
            <a:r>
              <a:rPr lang="de-AT" sz="2400" b="0" u="none" strike="noStrike">
                <a:solidFill>
                  <a:schemeClr val="dk1"/>
                </a:solidFill>
                <a:effectLst/>
                <a:uFillTx/>
                <a:latin typeface="Nunito Sans Light"/>
              </a:rPr>
              <a:t>mortality in experiments and humans</a:t>
            </a:r>
            <a:endParaRPr lang="en-GB"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Textfeld 4"/>
          <p:cNvSpPr/>
          <p:nvPr/>
        </p:nvSpPr>
        <p:spPr>
          <a:xfrm>
            <a:off x="104760" y="915480"/>
            <a:ext cx="11905920" cy="2236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Aft>
                <a:spcPts val="799"/>
              </a:spcAft>
            </a:pPr>
            <a:r>
              <a:rPr lang="en-US" sz="1800" b="0" u="none" strike="noStrike">
                <a:solidFill>
                  <a:schemeClr val="dk1"/>
                </a:solidFill>
                <a:effectLst/>
                <a:uFillTx/>
                <a:latin typeface="Nunito Sans Light"/>
                <a:ea typeface="Nunito Sans Light"/>
              </a:rPr>
              <a:t>You want to compare behavior of animals before and after experimental intervention; specifically, you will observe the territorial behavior of breeding fish before and after removal of their brood. </a:t>
            </a:r>
            <a:endParaRPr lang="en-GB" sz="1800" b="0" u="none" strike="noStrike">
              <a:solidFill>
                <a:srgbClr val="000000"/>
              </a:solidFill>
              <a:effectLst/>
              <a:uFillTx/>
              <a:latin typeface="Arial"/>
            </a:endParaRPr>
          </a:p>
          <a:p>
            <a:pPr defTabSz="914400">
              <a:lnSpc>
                <a:spcPct val="100000"/>
              </a:lnSpc>
              <a:spcAft>
                <a:spcPts val="799"/>
              </a:spcAft>
            </a:pPr>
            <a:r>
              <a:rPr lang="en-US" sz="1800" b="0" u="none" strike="noStrike">
                <a:solidFill>
                  <a:schemeClr val="dk1"/>
                </a:solidFill>
                <a:effectLst/>
                <a:uFillTx/>
                <a:latin typeface="Nunito Sans Light"/>
                <a:ea typeface="Nunito Sans Light"/>
              </a:rPr>
              <a:t>You wonder whether the disturbance associated with catching the brood might affect the fish’ behavior, and consider to also observe a control group, in which you capture the brood but then immediately release it back to their parents’ territory. </a:t>
            </a:r>
            <a:endParaRPr lang="en-GB" sz="1800" b="0" u="none" strike="noStrike">
              <a:solidFill>
                <a:srgbClr val="000000"/>
              </a:solidFill>
              <a:effectLst/>
              <a:uFillTx/>
              <a:latin typeface="Arial"/>
            </a:endParaRPr>
          </a:p>
          <a:p>
            <a:pPr defTabSz="914400">
              <a:lnSpc>
                <a:spcPct val="100000"/>
              </a:lnSpc>
              <a:spcAft>
                <a:spcPts val="799"/>
              </a:spcAft>
            </a:pPr>
            <a:r>
              <a:rPr lang="en-US" sz="1800" b="0" u="none" strike="noStrike">
                <a:solidFill>
                  <a:schemeClr val="dk1"/>
                </a:solidFill>
                <a:effectLst/>
                <a:uFillTx/>
                <a:latin typeface="Nunito Sans Light"/>
                <a:ea typeface="Nunito Sans Light"/>
              </a:rPr>
              <a:t>However, observing the fish takes time. Your field work budget allows you to observe no more than 40 pairs. You are worried that your sample size will not provide enough power to detect an existing difference. </a:t>
            </a:r>
            <a:endParaRPr lang="en-GB" sz="1800" b="0" u="none" strike="noStrike">
              <a:solidFill>
                <a:srgbClr val="000000"/>
              </a:solidFill>
              <a:effectLst/>
              <a:uFillTx/>
              <a:latin typeface="Arial"/>
            </a:endParaRPr>
          </a:p>
        </p:txBody>
      </p:sp>
      <p:sp>
        <p:nvSpPr>
          <p:cNvPr id="65" name="Textfeld 6"/>
          <p:cNvSpPr/>
          <p:nvPr/>
        </p:nvSpPr>
        <p:spPr>
          <a:xfrm>
            <a:off x="104760" y="3517560"/>
            <a:ext cx="9591480" cy="1302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Aft>
                <a:spcPts val="799"/>
              </a:spcAft>
            </a:pPr>
            <a:r>
              <a:rPr lang="en-US" sz="1800" b="0" u="none" strike="noStrike">
                <a:solidFill>
                  <a:schemeClr val="dk1"/>
                </a:solidFill>
                <a:effectLst/>
                <a:uFillTx/>
                <a:latin typeface="Nunito Sans Light"/>
                <a:ea typeface="Nunito Sans Light"/>
              </a:rPr>
              <a:t>How should you best allocate your limited time resources:</a:t>
            </a:r>
            <a:endParaRPr lang="en-GB" sz="1800" b="0" u="none" strike="noStrike">
              <a:solidFill>
                <a:srgbClr val="000000"/>
              </a:solidFill>
              <a:effectLst/>
              <a:uFillTx/>
              <a:latin typeface="Arial"/>
            </a:endParaRPr>
          </a:p>
          <a:p>
            <a:pPr marL="343080" indent="-343080" defTabSz="914400">
              <a:lnSpc>
                <a:spcPct val="100000"/>
              </a:lnSpc>
              <a:buClr>
                <a:srgbClr val="000000"/>
              </a:buClr>
              <a:buFont typeface="Wingdings" charset="2"/>
              <a:buChar char=""/>
            </a:pPr>
            <a:r>
              <a:rPr lang="en-US" sz="1800" b="0" u="none" strike="noStrike">
                <a:solidFill>
                  <a:schemeClr val="dk1"/>
                </a:solidFill>
                <a:effectLst/>
                <a:uFillTx/>
                <a:latin typeface="Nunito Sans Light"/>
                <a:ea typeface="Nunito Sans Light"/>
              </a:rPr>
              <a:t>30 pairs with brood permanently removed, 10 pairs with brood returned</a:t>
            </a:r>
            <a:endParaRPr lang="en-GB" sz="1800" b="0" u="none" strike="noStrike">
              <a:solidFill>
                <a:srgbClr val="000000"/>
              </a:solidFill>
              <a:effectLst/>
              <a:uFillTx/>
              <a:latin typeface="Arial"/>
            </a:endParaRPr>
          </a:p>
          <a:p>
            <a:pPr marL="343080" indent="-343080" defTabSz="914400">
              <a:lnSpc>
                <a:spcPct val="100000"/>
              </a:lnSpc>
              <a:buClr>
                <a:srgbClr val="000000"/>
              </a:buClr>
              <a:buFont typeface="Wingdings" charset="2"/>
              <a:buChar char=""/>
            </a:pPr>
            <a:r>
              <a:rPr lang="en-US" sz="1800" b="0" u="none" strike="noStrike">
                <a:solidFill>
                  <a:schemeClr val="dk1"/>
                </a:solidFill>
                <a:effectLst/>
                <a:uFillTx/>
                <a:latin typeface="Nunito Sans Light"/>
                <a:ea typeface="Nunito Sans Light"/>
              </a:rPr>
              <a:t>20 pairs with brood permanently removed, 20 pairs with brood returned</a:t>
            </a:r>
            <a:endParaRPr lang="en-GB" sz="1800" b="0" u="none" strike="noStrike">
              <a:solidFill>
                <a:srgbClr val="000000"/>
              </a:solidFill>
              <a:effectLst/>
              <a:uFillTx/>
              <a:latin typeface="Arial"/>
            </a:endParaRPr>
          </a:p>
          <a:p>
            <a:pPr marL="343080" indent="-343080" defTabSz="914400">
              <a:lnSpc>
                <a:spcPct val="100000"/>
              </a:lnSpc>
              <a:spcAft>
                <a:spcPts val="799"/>
              </a:spcAft>
              <a:buClr>
                <a:srgbClr val="000000"/>
              </a:buClr>
              <a:buFont typeface="Wingdings" charset="2"/>
              <a:buChar char=""/>
            </a:pPr>
            <a:r>
              <a:rPr lang="en-US" sz="1800" b="0" u="none" strike="noStrike">
                <a:solidFill>
                  <a:schemeClr val="dk1"/>
                </a:solidFill>
                <a:effectLst/>
                <a:uFillTx/>
                <a:latin typeface="Nunito Sans Light"/>
                <a:ea typeface="Nunito Sans Light"/>
              </a:rPr>
              <a:t>All 40 pairs with brood permanently removed</a:t>
            </a:r>
            <a:endParaRPr lang="en-GB" sz="1800" b="0" u="none" strike="noStrike">
              <a:solidFill>
                <a:srgbClr val="000000"/>
              </a:solidFill>
              <a:effectLst/>
              <a:uFillTx/>
              <a:latin typeface="Arial"/>
            </a:endParaRPr>
          </a:p>
        </p:txBody>
      </p:sp>
      <p:pic>
        <p:nvPicPr>
          <p:cNvPr id="66" name="Grafik 8"/>
          <p:cNvPicPr/>
          <p:nvPr/>
        </p:nvPicPr>
        <p:blipFill>
          <a:blip r:embed="rId1"/>
          <a:srcRect l="0" t="0" r="0" b="9981"/>
          <a:stretch/>
        </p:blipFill>
        <p:spPr>
          <a:xfrm>
            <a:off x="8774640" y="3797640"/>
            <a:ext cx="3416760" cy="3060000"/>
          </a:xfrm>
          <a:prstGeom prst="rect">
            <a:avLst/>
          </a:prstGeom>
          <a:noFill/>
          <a:ln w="0">
            <a:noFill/>
          </a:ln>
        </p:spPr>
      </p:pic>
      <p:sp>
        <p:nvSpPr>
          <p:cNvPr id="67" name="Textfeld 10"/>
          <p:cNvSpPr/>
          <p:nvPr/>
        </p:nvSpPr>
        <p:spPr>
          <a:xfrm>
            <a:off x="5414040" y="6488640"/>
            <a:ext cx="312300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AT" sz="1800" b="0" u="none" strike="noStrike">
                <a:solidFill>
                  <a:schemeClr val="dk1"/>
                </a:solidFill>
                <a:effectLst/>
                <a:uFillTx/>
                <a:latin typeface="Calibri"/>
              </a:rPr>
              <a:t>https://www.shutterstock.com</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feld 1"/>
          <p:cNvSpPr/>
          <p:nvPr/>
        </p:nvSpPr>
        <p:spPr>
          <a:xfrm>
            <a:off x="104760" y="1012320"/>
            <a:ext cx="11905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AT" sz="1800" b="0" u="none" strike="noStrike">
                <a:solidFill>
                  <a:schemeClr val="dk1"/>
                </a:solidFill>
                <a:effectLst/>
                <a:uFillTx/>
                <a:latin typeface="AdvOTdd63dae3"/>
              </a:rPr>
              <a:t>You want to find out </a:t>
            </a:r>
            <a:r>
              <a:rPr lang="en-US" sz="1800" b="0" u="none" strike="noStrike">
                <a:solidFill>
                  <a:schemeClr val="dk1"/>
                </a:solidFill>
                <a:effectLst/>
                <a:uFillTx/>
                <a:latin typeface="AdvOTdd63dae3"/>
              </a:rPr>
              <a:t>whether carbon use ef</a:t>
            </a:r>
            <a:r>
              <a:rPr lang="en-US" sz="1800" b="0" u="none" strike="noStrike">
                <a:solidFill>
                  <a:schemeClr val="dk1"/>
                </a:solidFill>
                <a:effectLst/>
                <a:uFillTx/>
                <a:latin typeface="AdvOTdd63dae3+fb"/>
              </a:rPr>
              <a:t>fi</a:t>
            </a:r>
            <a:r>
              <a:rPr lang="en-US" sz="1800" b="0" u="none" strike="noStrike">
                <a:solidFill>
                  <a:schemeClr val="dk1"/>
                </a:solidFill>
                <a:effectLst/>
                <a:uFillTx/>
                <a:latin typeface="AdvOTdd63dae3"/>
              </a:rPr>
              <a:t>ciency differs between freshwater and marine microbial communities. What exactly do the following two designs test:</a:t>
            </a:r>
            <a:endParaRPr lang="en-GB" sz="1800" b="0" u="none" strike="noStrike">
              <a:solidFill>
                <a:srgbClr val="000000"/>
              </a:solidFill>
              <a:effectLst/>
              <a:uFillTx/>
              <a:latin typeface="Arial"/>
            </a:endParaRPr>
          </a:p>
        </p:txBody>
      </p:sp>
      <p:pic>
        <p:nvPicPr>
          <p:cNvPr id="69" name="Grafik 3"/>
          <p:cNvPicPr/>
          <p:nvPr/>
        </p:nvPicPr>
        <p:blipFill>
          <a:blip r:embed="rId1"/>
          <a:stretch/>
        </p:blipFill>
        <p:spPr>
          <a:xfrm>
            <a:off x="210240" y="2136960"/>
            <a:ext cx="4772160" cy="2038320"/>
          </a:xfrm>
          <a:prstGeom prst="rect">
            <a:avLst/>
          </a:prstGeom>
          <a:noFill/>
          <a:ln w="0">
            <a:noFill/>
          </a:ln>
        </p:spPr>
      </p:pic>
      <p:pic>
        <p:nvPicPr>
          <p:cNvPr id="70" name="Grafik 5"/>
          <p:cNvPicPr/>
          <p:nvPr/>
        </p:nvPicPr>
        <p:blipFill>
          <a:blip r:embed="rId2"/>
          <a:stretch/>
        </p:blipFill>
        <p:spPr>
          <a:xfrm>
            <a:off x="6679440" y="1755000"/>
            <a:ext cx="4600800" cy="3857760"/>
          </a:xfrm>
          <a:prstGeom prst="rect">
            <a:avLst/>
          </a:prstGeom>
          <a:noFill/>
          <a:ln w="0">
            <a:noFill/>
          </a:ln>
        </p:spPr>
      </p:pic>
      <p:sp>
        <p:nvSpPr>
          <p:cNvPr id="71" name="Textfeld 6"/>
          <p:cNvSpPr/>
          <p:nvPr/>
        </p:nvSpPr>
        <p:spPr>
          <a:xfrm>
            <a:off x="210240" y="6488640"/>
            <a:ext cx="77875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AT" sz="1800" b="0" u="none" strike="noStrike">
                <a:solidFill>
                  <a:schemeClr val="dk1"/>
                </a:solidFill>
                <a:effectLst/>
                <a:uFillTx/>
                <a:latin typeface="Calibri"/>
              </a:rPr>
              <a:t>Wagner and Kleiner 2025; https://www.nature.com/articles/s41467-025-62616-x</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Grafik 4"/>
          <p:cNvPicPr/>
          <p:nvPr/>
        </p:nvPicPr>
        <p:blipFill>
          <a:blip r:embed="rId1"/>
          <a:stretch/>
        </p:blipFill>
        <p:spPr>
          <a:xfrm>
            <a:off x="4237200" y="2428920"/>
            <a:ext cx="3188520" cy="1762200"/>
          </a:xfrm>
          <a:prstGeom prst="rect">
            <a:avLst/>
          </a:prstGeom>
          <a:noFill/>
          <a:ln w="0">
            <a:noFill/>
          </a:ln>
        </p:spPr>
      </p:pic>
      <p:pic>
        <p:nvPicPr>
          <p:cNvPr id="73" name="Grafik 6"/>
          <p:cNvPicPr/>
          <p:nvPr/>
        </p:nvPicPr>
        <p:blipFill>
          <a:blip r:embed="rId2"/>
          <a:stretch/>
        </p:blipFill>
        <p:spPr>
          <a:xfrm>
            <a:off x="597240" y="2428920"/>
            <a:ext cx="3188520" cy="1762200"/>
          </a:xfrm>
          <a:prstGeom prst="rect">
            <a:avLst/>
          </a:prstGeom>
          <a:noFill/>
          <a:ln w="0">
            <a:noFill/>
          </a:ln>
        </p:spPr>
      </p:pic>
      <p:pic>
        <p:nvPicPr>
          <p:cNvPr id="74" name="Grafik 9"/>
          <p:cNvPicPr/>
          <p:nvPr/>
        </p:nvPicPr>
        <p:blipFill>
          <a:blip r:embed="rId3"/>
          <a:stretch/>
        </p:blipFill>
        <p:spPr>
          <a:xfrm>
            <a:off x="7877160" y="2421720"/>
            <a:ext cx="3188520" cy="1769760"/>
          </a:xfrm>
          <a:prstGeom prst="rect">
            <a:avLst/>
          </a:prstGeom>
          <a:noFill/>
          <a:ln w="0">
            <a:noFill/>
          </a:ln>
        </p:spPr>
      </p:pic>
      <p:sp>
        <p:nvSpPr>
          <p:cNvPr id="75" name="Textfeld 10"/>
          <p:cNvSpPr/>
          <p:nvPr/>
        </p:nvSpPr>
        <p:spPr>
          <a:xfrm>
            <a:off x="142920" y="374400"/>
            <a:ext cx="11905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AT" sz="1800" b="0" u="none" strike="noStrike">
                <a:solidFill>
                  <a:schemeClr val="dk1"/>
                </a:solidFill>
                <a:effectLst/>
                <a:uFillTx/>
                <a:latin typeface="AdvOTdd63dae3"/>
              </a:rPr>
              <a:t>You want to compare fungal colonization in the roots of two plant species. Soil quality varies across the experimental field. Which setup is most likely to detect any existing differences between the plant species?</a:t>
            </a:r>
            <a:endParaRPr lang="en-GB" sz="1800" b="0" u="none" strike="noStrike">
              <a:solidFill>
                <a:srgbClr val="000000"/>
              </a:solidFill>
              <a:effectLst/>
              <a:uFillTx/>
              <a:latin typeface="Arial"/>
            </a:endParaRPr>
          </a:p>
        </p:txBody>
      </p:sp>
      <p:sp>
        <p:nvSpPr>
          <p:cNvPr id="76" name="Textfeld 11"/>
          <p:cNvSpPr/>
          <p:nvPr/>
        </p:nvSpPr>
        <p:spPr>
          <a:xfrm>
            <a:off x="210240" y="6488640"/>
            <a:ext cx="77875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AT" sz="1800" b="0" u="none" strike="noStrike">
                <a:solidFill>
                  <a:schemeClr val="dk1"/>
                </a:solidFill>
                <a:effectLst/>
                <a:uFillTx/>
                <a:latin typeface="Calibri"/>
              </a:rPr>
              <a:t>Wagner and Kleiner 2025; https://www.nature.com/articles/s41467-025-62616-x</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Grafik 8"/>
          <p:cNvPicPr/>
          <p:nvPr/>
        </p:nvPicPr>
        <p:blipFill>
          <a:blip r:embed="rId1"/>
          <a:stretch/>
        </p:blipFill>
        <p:spPr>
          <a:xfrm>
            <a:off x="6887520" y="2532240"/>
            <a:ext cx="4786920" cy="2188800"/>
          </a:xfrm>
          <a:prstGeom prst="rect">
            <a:avLst/>
          </a:prstGeom>
          <a:noFill/>
          <a:ln w="0">
            <a:noFill/>
          </a:ln>
        </p:spPr>
      </p:pic>
      <p:sp>
        <p:nvSpPr>
          <p:cNvPr id="78" name="Rechteck 10"/>
          <p:cNvSpPr/>
          <p:nvPr/>
        </p:nvSpPr>
        <p:spPr>
          <a:xfrm>
            <a:off x="6403680" y="2118960"/>
            <a:ext cx="5565240" cy="3059280"/>
          </a:xfrm>
          <a:prstGeom prst="rect">
            <a:avLst/>
          </a:prstGeom>
          <a:no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79" name="Textfeld 11"/>
          <p:cNvSpPr/>
          <p:nvPr/>
        </p:nvSpPr>
        <p:spPr>
          <a:xfrm>
            <a:off x="142920" y="374400"/>
            <a:ext cx="11905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AT" sz="1800" b="0" u="none" strike="noStrike">
                <a:solidFill>
                  <a:schemeClr val="dk1"/>
                </a:solidFill>
                <a:effectLst/>
                <a:uFillTx/>
                <a:latin typeface="AdvOTdd63dae3"/>
              </a:rPr>
              <a:t>A manuscript reports significant growth differences between two bacterial strains (Fig. A), and greater similarity of gene expression responses to temperature treatments within than between strains (Fig. B). Do you agree?</a:t>
            </a:r>
            <a:endParaRPr lang="en-GB" sz="1800" b="0" u="none" strike="noStrike">
              <a:solidFill>
                <a:srgbClr val="000000"/>
              </a:solidFill>
              <a:effectLst/>
              <a:uFillTx/>
              <a:latin typeface="Arial"/>
            </a:endParaRPr>
          </a:p>
        </p:txBody>
      </p:sp>
      <p:sp>
        <p:nvSpPr>
          <p:cNvPr id="80" name="Textfeld 13"/>
          <p:cNvSpPr/>
          <p:nvPr/>
        </p:nvSpPr>
        <p:spPr>
          <a:xfrm>
            <a:off x="6410520" y="2077200"/>
            <a:ext cx="392760" cy="5227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AT" sz="2800" b="0" u="none" strike="noStrike">
                <a:solidFill>
                  <a:schemeClr val="dk1"/>
                </a:solidFill>
                <a:effectLst/>
                <a:uFillTx/>
                <a:latin typeface="Calibri"/>
              </a:rPr>
              <a:t>B</a:t>
            </a:r>
            <a:endParaRPr lang="en-GB" sz="2800" b="0" u="none" strike="noStrike">
              <a:solidFill>
                <a:srgbClr val="000000"/>
              </a:solidFill>
              <a:effectLst/>
              <a:uFillTx/>
              <a:latin typeface="Arial"/>
            </a:endParaRPr>
          </a:p>
        </p:txBody>
      </p:sp>
      <p:pic>
        <p:nvPicPr>
          <p:cNvPr id="81" name="Grafik 15"/>
          <p:cNvPicPr/>
          <p:nvPr/>
        </p:nvPicPr>
        <p:blipFill>
          <a:blip r:embed="rId2"/>
          <a:stretch/>
        </p:blipFill>
        <p:spPr>
          <a:xfrm>
            <a:off x="6430680" y="3817800"/>
            <a:ext cx="674280" cy="180720"/>
          </a:xfrm>
          <a:prstGeom prst="rect">
            <a:avLst/>
          </a:prstGeom>
          <a:noFill/>
          <a:ln w="0">
            <a:noFill/>
          </a:ln>
        </p:spPr>
      </p:pic>
      <p:pic>
        <p:nvPicPr>
          <p:cNvPr id="82" name="Grafik 17"/>
          <p:cNvPicPr/>
          <p:nvPr/>
        </p:nvPicPr>
        <p:blipFill>
          <a:blip r:embed="rId3"/>
          <a:stretch/>
        </p:blipFill>
        <p:spPr>
          <a:xfrm>
            <a:off x="6831720" y="2913480"/>
            <a:ext cx="280800" cy="199440"/>
          </a:xfrm>
          <a:prstGeom prst="rect">
            <a:avLst/>
          </a:prstGeom>
          <a:noFill/>
          <a:ln w="0">
            <a:noFill/>
          </a:ln>
        </p:spPr>
      </p:pic>
      <p:grpSp>
        <p:nvGrpSpPr>
          <p:cNvPr id="83" name="Gruppieren 20"/>
          <p:cNvGrpSpPr/>
          <p:nvPr/>
        </p:nvGrpSpPr>
        <p:grpSpPr>
          <a:xfrm>
            <a:off x="307800" y="2077200"/>
            <a:ext cx="5565240" cy="3101040"/>
            <a:chOff x="307800" y="2077200"/>
            <a:chExt cx="5565240" cy="3101040"/>
          </a:xfrm>
        </p:grpSpPr>
        <p:grpSp>
          <p:nvGrpSpPr>
            <p:cNvPr id="84" name="Gruppieren 6"/>
            <p:cNvGrpSpPr/>
            <p:nvPr/>
          </p:nvGrpSpPr>
          <p:grpSpPr>
            <a:xfrm>
              <a:off x="677880" y="2338920"/>
              <a:ext cx="4931280" cy="2382120"/>
              <a:chOff x="677880" y="2338920"/>
              <a:chExt cx="4931280" cy="2382120"/>
            </a:xfrm>
          </p:grpSpPr>
          <p:pic>
            <p:nvPicPr>
              <p:cNvPr id="85" name="Grafik 4"/>
              <p:cNvPicPr/>
              <p:nvPr/>
            </p:nvPicPr>
            <p:blipFill>
              <a:blip r:embed="rId4"/>
              <a:srcRect l="0" t="0" r="0" b="44271"/>
              <a:stretch/>
            </p:blipFill>
            <p:spPr>
              <a:xfrm>
                <a:off x="677880" y="2338920"/>
                <a:ext cx="4931280" cy="2258640"/>
              </a:xfrm>
              <a:prstGeom prst="rect">
                <a:avLst/>
              </a:prstGeom>
              <a:noFill/>
              <a:ln w="0">
                <a:noFill/>
              </a:ln>
            </p:spPr>
          </p:pic>
          <p:sp>
            <p:nvSpPr>
              <p:cNvPr id="86" name="Rechteck 5"/>
              <p:cNvSpPr/>
              <p:nvPr/>
            </p:nvSpPr>
            <p:spPr>
              <a:xfrm>
                <a:off x="677880" y="4252680"/>
                <a:ext cx="1665360" cy="468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grpSp>
        <p:sp>
          <p:nvSpPr>
            <p:cNvPr id="87" name="Rechteck 9"/>
            <p:cNvSpPr/>
            <p:nvPr/>
          </p:nvSpPr>
          <p:spPr>
            <a:xfrm>
              <a:off x="307800" y="2118960"/>
              <a:ext cx="5565240" cy="3059280"/>
            </a:xfrm>
            <a:prstGeom prst="rect">
              <a:avLst/>
            </a:prstGeom>
            <a:no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88" name="Textfeld 12"/>
            <p:cNvSpPr/>
            <p:nvPr/>
          </p:nvSpPr>
          <p:spPr>
            <a:xfrm>
              <a:off x="323640" y="2077200"/>
              <a:ext cx="392760" cy="5227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AT" sz="2800" b="0" u="none" strike="noStrike">
                  <a:solidFill>
                    <a:schemeClr val="dk1"/>
                  </a:solidFill>
                  <a:effectLst/>
                  <a:uFillTx/>
                  <a:latin typeface="Calibri"/>
                </a:rPr>
                <a:t>A</a:t>
              </a:r>
              <a:endParaRPr lang="en-GB" sz="2800" b="0" u="none" strike="noStrike">
                <a:solidFill>
                  <a:srgbClr val="000000"/>
                </a:solidFill>
                <a:effectLst/>
                <a:uFillTx/>
                <a:latin typeface="Arial"/>
              </a:endParaRPr>
            </a:p>
          </p:txBody>
        </p:sp>
        <p:sp>
          <p:nvSpPr>
            <p:cNvPr id="89" name="Rechteck 18"/>
            <p:cNvSpPr/>
            <p:nvPr/>
          </p:nvSpPr>
          <p:spPr>
            <a:xfrm>
              <a:off x="3876840" y="4124160"/>
              <a:ext cx="199800" cy="468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90" name="Rechteck 19"/>
            <p:cNvSpPr/>
            <p:nvPr/>
          </p:nvSpPr>
          <p:spPr>
            <a:xfrm>
              <a:off x="5229360" y="4018320"/>
              <a:ext cx="199800" cy="468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grpSp>
      <p:sp>
        <p:nvSpPr>
          <p:cNvPr id="91" name="Textfeld 21"/>
          <p:cNvSpPr/>
          <p:nvPr/>
        </p:nvSpPr>
        <p:spPr>
          <a:xfrm>
            <a:off x="210240" y="6488640"/>
            <a:ext cx="77875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de-AT" sz="1800" b="0" u="none" strike="noStrike">
                <a:solidFill>
                  <a:schemeClr val="dk1"/>
                </a:solidFill>
                <a:effectLst/>
                <a:uFillTx/>
                <a:latin typeface="Calibri"/>
              </a:rPr>
              <a:t>Wagner and Kleiner 2025; https://www.nature.com/articles/s41467-025-62616-x</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Grafik 4"/>
          <p:cNvPicPr/>
          <p:nvPr/>
        </p:nvPicPr>
        <p:blipFill>
          <a:blip r:embed="rId1"/>
          <a:stretch/>
        </p:blipFill>
        <p:spPr>
          <a:xfrm>
            <a:off x="4237200" y="1540800"/>
            <a:ext cx="3188520" cy="1762200"/>
          </a:xfrm>
          <a:prstGeom prst="rect">
            <a:avLst/>
          </a:prstGeom>
          <a:noFill/>
          <a:ln w="0">
            <a:noFill/>
          </a:ln>
        </p:spPr>
      </p:pic>
      <p:pic>
        <p:nvPicPr>
          <p:cNvPr id="93" name="Grafik 6"/>
          <p:cNvPicPr/>
          <p:nvPr/>
        </p:nvPicPr>
        <p:blipFill>
          <a:blip r:embed="rId2"/>
          <a:stretch/>
        </p:blipFill>
        <p:spPr>
          <a:xfrm>
            <a:off x="597240" y="1540800"/>
            <a:ext cx="3188520" cy="1762200"/>
          </a:xfrm>
          <a:prstGeom prst="rect">
            <a:avLst/>
          </a:prstGeom>
          <a:noFill/>
          <a:ln w="0">
            <a:noFill/>
          </a:ln>
        </p:spPr>
      </p:pic>
      <p:pic>
        <p:nvPicPr>
          <p:cNvPr id="94" name="Grafik 9"/>
          <p:cNvPicPr/>
          <p:nvPr/>
        </p:nvPicPr>
        <p:blipFill>
          <a:blip r:embed="rId3"/>
          <a:stretch/>
        </p:blipFill>
        <p:spPr>
          <a:xfrm>
            <a:off x="7877160" y="1533600"/>
            <a:ext cx="3188520" cy="1769760"/>
          </a:xfrm>
          <a:prstGeom prst="rect">
            <a:avLst/>
          </a:prstGeom>
          <a:noFill/>
          <a:ln w="0">
            <a:noFill/>
          </a:ln>
        </p:spPr>
      </p:pic>
      <p:sp>
        <p:nvSpPr>
          <p:cNvPr id="95" name="Textfeld 10"/>
          <p:cNvSpPr/>
          <p:nvPr/>
        </p:nvSpPr>
        <p:spPr>
          <a:xfrm>
            <a:off x="142920" y="374400"/>
            <a:ext cx="11905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AT" sz="1800" b="0" u="none" strike="noStrike">
                <a:solidFill>
                  <a:schemeClr val="dk1"/>
                </a:solidFill>
                <a:effectLst/>
                <a:uFillTx/>
                <a:latin typeface="AdvOTdd63dae3"/>
              </a:rPr>
              <a:t>You want to compare fungal colonization in the roots of two plant species. Soil quality varies across the experimental field. Which setup provides the highest power to detect any existing differences between the plant species?</a:t>
            </a:r>
            <a:endParaRPr lang="en-GB" sz="1800" b="0" u="none" strike="noStrike">
              <a:solidFill>
                <a:srgbClr val="000000"/>
              </a:solidFill>
              <a:effectLst/>
              <a:uFillTx/>
              <a:latin typeface="Arial"/>
            </a:endParaRPr>
          </a:p>
        </p:txBody>
      </p:sp>
      <p:pic>
        <p:nvPicPr>
          <p:cNvPr id="96" name="Grafik 2"/>
          <p:cNvPicPr/>
          <p:nvPr/>
        </p:nvPicPr>
        <p:blipFill>
          <a:blip r:embed="rId4"/>
          <a:stretch/>
        </p:blipFill>
        <p:spPr>
          <a:xfrm>
            <a:off x="1304640" y="3463200"/>
            <a:ext cx="1773360" cy="1702440"/>
          </a:xfrm>
          <a:prstGeom prst="rect">
            <a:avLst/>
          </a:prstGeom>
          <a:noFill/>
          <a:ln w="0">
            <a:noFill/>
          </a:ln>
        </p:spPr>
      </p:pic>
      <p:pic>
        <p:nvPicPr>
          <p:cNvPr id="97" name="Grafik 5"/>
          <p:cNvPicPr/>
          <p:nvPr/>
        </p:nvPicPr>
        <p:blipFill>
          <a:blip r:embed="rId5"/>
          <a:stretch/>
        </p:blipFill>
        <p:spPr>
          <a:xfrm>
            <a:off x="4389480" y="3463200"/>
            <a:ext cx="3015360" cy="1699920"/>
          </a:xfrm>
          <a:prstGeom prst="rect">
            <a:avLst/>
          </a:prstGeom>
          <a:noFill/>
          <a:ln w="0">
            <a:noFill/>
          </a:ln>
        </p:spPr>
      </p:pic>
      <p:pic>
        <p:nvPicPr>
          <p:cNvPr id="98" name="Grafik 8"/>
          <p:cNvPicPr/>
          <p:nvPr/>
        </p:nvPicPr>
        <p:blipFill>
          <a:blip r:embed="rId6"/>
          <a:stretch/>
        </p:blipFill>
        <p:spPr>
          <a:xfrm>
            <a:off x="8848800" y="3437640"/>
            <a:ext cx="1728000" cy="1698840"/>
          </a:xfrm>
          <a:prstGeom prst="rect">
            <a:avLst/>
          </a:prstGeom>
          <a:noFill/>
          <a:ln w="0">
            <a:noFill/>
          </a:ln>
        </p:spPr>
      </p:pic>
      <p:pic>
        <p:nvPicPr>
          <p:cNvPr id="99" name="Grafik 12"/>
          <p:cNvPicPr/>
          <p:nvPr/>
        </p:nvPicPr>
        <p:blipFill>
          <a:blip r:embed="rId7"/>
          <a:stretch/>
        </p:blipFill>
        <p:spPr>
          <a:xfrm>
            <a:off x="520920" y="5752440"/>
            <a:ext cx="9308520" cy="7822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Grafik 2"/>
          <p:cNvPicPr/>
          <p:nvPr/>
        </p:nvPicPr>
        <p:blipFill>
          <a:blip r:embed="rId1"/>
          <a:stretch/>
        </p:blipFill>
        <p:spPr>
          <a:xfrm>
            <a:off x="361080" y="1828440"/>
            <a:ext cx="4623840" cy="4695120"/>
          </a:xfrm>
          <a:prstGeom prst="rect">
            <a:avLst/>
          </a:prstGeom>
          <a:noFill/>
          <a:ln w="0">
            <a:noFill/>
          </a:ln>
        </p:spPr>
      </p:pic>
      <p:sp>
        <p:nvSpPr>
          <p:cNvPr id="101" name="Parallelogramm 5"/>
          <p:cNvSpPr/>
          <p:nvPr/>
        </p:nvSpPr>
        <p:spPr>
          <a:xfrm>
            <a:off x="484200" y="4323600"/>
            <a:ext cx="1913400" cy="369000"/>
          </a:xfrm>
          <a:prstGeom prst="parallelogram">
            <a:avLst>
              <a:gd name="adj" fmla="val 167106"/>
            </a:avLst>
          </a:prstGeom>
          <a:solidFill>
            <a:schemeClr val="tx2">
              <a:lumMod val="60000"/>
              <a:lumOff val="4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102" name="Parallelogramm 6"/>
          <p:cNvSpPr/>
          <p:nvPr/>
        </p:nvSpPr>
        <p:spPr>
          <a:xfrm>
            <a:off x="1327680" y="3894840"/>
            <a:ext cx="1202040" cy="180000"/>
          </a:xfrm>
          <a:prstGeom prst="parallelogram">
            <a:avLst>
              <a:gd name="adj" fmla="val 167106"/>
            </a:avLst>
          </a:prstGeom>
          <a:solidFill>
            <a:schemeClr val="tx2">
              <a:lumMod val="60000"/>
              <a:lumOff val="4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103" name="Parallelogramm 7"/>
          <p:cNvSpPr/>
          <p:nvPr/>
        </p:nvSpPr>
        <p:spPr>
          <a:xfrm>
            <a:off x="1881720" y="3622320"/>
            <a:ext cx="692280" cy="96480"/>
          </a:xfrm>
          <a:prstGeom prst="parallelogram">
            <a:avLst>
              <a:gd name="adj" fmla="val 167106"/>
            </a:avLst>
          </a:prstGeom>
          <a:solidFill>
            <a:schemeClr val="tx2">
              <a:lumMod val="60000"/>
              <a:lumOff val="4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16920" bIns="1692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104" name="Parallelogramm 8"/>
          <p:cNvSpPr/>
          <p:nvPr/>
        </p:nvSpPr>
        <p:spPr>
          <a:xfrm flipH="1">
            <a:off x="2894400" y="4323600"/>
            <a:ext cx="1913400" cy="369000"/>
          </a:xfrm>
          <a:prstGeom prst="parallelogram">
            <a:avLst>
              <a:gd name="adj" fmla="val 167106"/>
            </a:avLst>
          </a:prstGeom>
          <a:solidFill>
            <a:schemeClr val="accent5">
              <a:lumMod val="60000"/>
              <a:lumOff val="4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105" name="Parallelogramm 9"/>
          <p:cNvSpPr/>
          <p:nvPr/>
        </p:nvSpPr>
        <p:spPr>
          <a:xfrm flipH="1">
            <a:off x="2797200" y="3931200"/>
            <a:ext cx="1202040" cy="180000"/>
          </a:xfrm>
          <a:prstGeom prst="parallelogram">
            <a:avLst>
              <a:gd name="adj" fmla="val 167106"/>
            </a:avLst>
          </a:prstGeom>
          <a:solidFill>
            <a:schemeClr val="accent5">
              <a:lumMod val="60000"/>
              <a:lumOff val="4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106" name="Parallelogramm 10"/>
          <p:cNvSpPr/>
          <p:nvPr/>
        </p:nvSpPr>
        <p:spPr>
          <a:xfrm flipH="1">
            <a:off x="2739960" y="3618000"/>
            <a:ext cx="692280" cy="96480"/>
          </a:xfrm>
          <a:prstGeom prst="parallelogram">
            <a:avLst>
              <a:gd name="adj" fmla="val 167106"/>
            </a:avLst>
          </a:prstGeom>
          <a:solidFill>
            <a:schemeClr val="accent5">
              <a:lumMod val="60000"/>
              <a:lumOff val="4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16920" bIns="1692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107" name="Textfeld 11"/>
          <p:cNvSpPr/>
          <p:nvPr/>
        </p:nvSpPr>
        <p:spPr>
          <a:xfrm>
            <a:off x="142920" y="608400"/>
            <a:ext cx="11905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AT" sz="1800" b="0" u="none" strike="noStrike">
                <a:solidFill>
                  <a:schemeClr val="dk1"/>
                </a:solidFill>
                <a:effectLst/>
                <a:uFillTx/>
                <a:latin typeface="AdvOTdd63dae3"/>
              </a:rPr>
              <a:t>You want to compare soil characteristics in response to mowing regimes, and plan to examine multiple plots per treatment. </a:t>
            </a:r>
            <a:endParaRPr lang="en-GB" sz="1800" b="0" u="none" strike="noStrike">
              <a:solidFill>
                <a:srgbClr val="000000"/>
              </a:solidFill>
              <a:effectLst/>
              <a:uFillTx/>
              <a:latin typeface="Arial"/>
            </a:endParaRPr>
          </a:p>
          <a:p>
            <a:pPr defTabSz="914400">
              <a:lnSpc>
                <a:spcPct val="100000"/>
              </a:lnSpc>
            </a:pPr>
            <a:r>
              <a:rPr lang="de-AT" sz="1800" b="0" u="none" strike="noStrike">
                <a:solidFill>
                  <a:schemeClr val="dk1"/>
                </a:solidFill>
                <a:effectLst/>
                <a:uFillTx/>
                <a:latin typeface="AdvOTdd63dae3"/>
              </a:rPr>
              <a:t>What are the problems with the following design?   </a:t>
            </a:r>
            <a:endParaRPr lang="en-GB" sz="1800" b="0" u="none" strike="noStrike">
              <a:solidFill>
                <a:srgbClr val="000000"/>
              </a:solidFill>
              <a:effectLst/>
              <a:uFillTx/>
              <a:latin typeface="Arial"/>
            </a:endParaRPr>
          </a:p>
        </p:txBody>
      </p:sp>
      <p:sp>
        <p:nvSpPr>
          <p:cNvPr id="108" name="Textfeld 12"/>
          <p:cNvSpPr/>
          <p:nvPr/>
        </p:nvSpPr>
        <p:spPr>
          <a:xfrm>
            <a:off x="275760" y="6523920"/>
            <a:ext cx="312300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AT" sz="1800" b="0" u="none" strike="noStrike">
                <a:solidFill>
                  <a:schemeClr val="dk1"/>
                </a:solidFill>
                <a:effectLst/>
                <a:uFillTx/>
                <a:latin typeface="Calibri"/>
              </a:rPr>
              <a:t>https://www.shutterstock.com</a:t>
            </a:r>
            <a:endParaRPr lang="en-GB" sz="1800" b="0" u="none" strike="noStrike">
              <a:solidFill>
                <a:srgbClr val="000000"/>
              </a:solidFill>
              <a:effectLst/>
              <a:uFillTx/>
              <a:latin typeface="Arial"/>
            </a:endParaRPr>
          </a:p>
        </p:txBody>
      </p:sp>
      <p:sp>
        <p:nvSpPr>
          <p:cNvPr id="109" name="Parallelogramm 13"/>
          <p:cNvSpPr/>
          <p:nvPr/>
        </p:nvSpPr>
        <p:spPr>
          <a:xfrm>
            <a:off x="2227680" y="3483000"/>
            <a:ext cx="296640" cy="45360"/>
          </a:xfrm>
          <a:prstGeom prst="parallelogram">
            <a:avLst>
              <a:gd name="adj" fmla="val 167106"/>
            </a:avLst>
          </a:prstGeom>
          <a:solidFill>
            <a:schemeClr val="tx2">
              <a:lumMod val="60000"/>
              <a:lumOff val="4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16920" bIns="-16920" anchor="ctr">
            <a:noAutofit/>
          </a:bodyPr>
          <a:p>
            <a:pPr algn="ctr" defTabSz="914400">
              <a:lnSpc>
                <a:spcPct val="100000"/>
              </a:lnSpc>
            </a:pPr>
            <a:endParaRPr lang="de-AT" sz="1800" b="0" u="none" strike="noStrike">
              <a:solidFill>
                <a:schemeClr val="lt1"/>
              </a:solidFill>
              <a:effectLst/>
              <a:uFillTx/>
              <a:latin typeface="Calibri"/>
            </a:endParaRPr>
          </a:p>
        </p:txBody>
      </p:sp>
      <p:sp>
        <p:nvSpPr>
          <p:cNvPr id="110" name="Parallelogramm 14"/>
          <p:cNvSpPr/>
          <p:nvPr/>
        </p:nvSpPr>
        <p:spPr>
          <a:xfrm flipH="1">
            <a:off x="2649600" y="3483000"/>
            <a:ext cx="296640" cy="45360"/>
          </a:xfrm>
          <a:prstGeom prst="parallelogram">
            <a:avLst>
              <a:gd name="adj" fmla="val 167106"/>
            </a:avLst>
          </a:prstGeom>
          <a:solidFill>
            <a:schemeClr val="accent5">
              <a:lumMod val="60000"/>
              <a:lumOff val="4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16920" bIns="-16920" anchor="ctr">
            <a:noAutofit/>
          </a:bodyPr>
          <a:p>
            <a:pPr algn="ctr" defTabSz="914400">
              <a:lnSpc>
                <a:spcPct val="100000"/>
              </a:lnSpc>
            </a:pPr>
            <a:endParaRPr lang="de-AT"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LibreOffice/25.8.4.2$Linux_X86_64 LibreOffice_project/580$Build-2</Application>
  <AppVersion>15.0000</AppVersion>
  <Words>498</Words>
  <Paragraphs>31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2025-11-06T10:06:39Z</dcterms:created>
  <dc:creator>Sefc, Kristina (kristina.sefc@uni-graz.at)</dc:creator>
  <dc:description/>
  <dc:language>en-GB</dc:language>
  <cp:lastModifiedBy>Adam Clark</cp:lastModifiedBy>
  <dcterms:modified xsi:type="dcterms:W3CDTF">2026-03-08T11:17:04Z</dcterms:modified>
  <cp:revision>31</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13</vt:i4>
  </property>
</Properties>
</file>